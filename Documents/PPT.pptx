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hGR0g41ww9zUJxPRCfcQufjeeA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8BA836-758A-4EA6-A6AB-05F6C4DF461F}">
  <a:tblStyle styleId="{258BA836-758A-4EA6-A6AB-05F6C4DF461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" name="Google Shape;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" name="Google Shape;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ee9c2a94a_0_16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g38ee9c2a94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cc9dd842d_3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bcc9dd842d_3_3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g3bcc9dd842d_3_3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cc9dd842d_3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bcc9dd842d_3_1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g3bcc9dd842d_3_11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94d33bad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94d33bad6_0_4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e94d33bad6_0_4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ee9c2a94a_0_9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8ee9c2a94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cc9dd842d_3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3bcc9dd842d_3_20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g3bcc9dd842d_3_20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cc9dd842d_3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bcc9dd842d_3_28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3bcc9dd842d_3_28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cc9dd842d_3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bcc9dd842d_3_44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g3bcc9dd842d_3_44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cc9dd842d_3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3bcc9dd842d_3_5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cc9dd842d_3_52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cc9dd842d_3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3bcc9dd842d_3_130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g3bcc9dd842d_3_130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body" idx="1"/>
          </p:nvPr>
        </p:nvSpPr>
        <p:spPr>
          <a:xfrm>
            <a:off x="299300" y="1571390"/>
            <a:ext cx="8639810" cy="207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3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5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body" idx="1"/>
          </p:nvPr>
        </p:nvSpPr>
        <p:spPr>
          <a:xfrm>
            <a:off x="299300" y="1571390"/>
            <a:ext cx="8639810" cy="207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"/>
          <p:cNvPicPr preferRelativeResize="0"/>
          <p:nvPr/>
        </p:nvPicPr>
        <p:blipFill rotWithShape="1">
          <a:blip r:embed="rId3">
            <a:alphaModFix/>
          </a:blip>
          <a:srcRect l="5390" t="2080" r="-5390" b="-2079"/>
          <a:stretch/>
        </p:blipFill>
        <p:spPr>
          <a:xfrm>
            <a:off x="0" y="0"/>
            <a:ext cx="2980944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"/>
          <p:cNvSpPr txBox="1">
            <a:spLocks noGrp="1"/>
          </p:cNvSpPr>
          <p:nvPr>
            <p:ph type="title"/>
          </p:nvPr>
        </p:nvSpPr>
        <p:spPr>
          <a:xfrm>
            <a:off x="481781" y="137160"/>
            <a:ext cx="8662200" cy="139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242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dirty="0" err="1"/>
              <a:t>AgoraHub</a:t>
            </a:r>
            <a:r>
              <a:rPr lang="en-US" sz="2000" dirty="0"/>
              <a:t>: Empowering Communities through Collaborative Governance and Intelligent </a:t>
            </a:r>
            <a:br>
              <a:rPr lang="en-US" sz="2000" dirty="0"/>
            </a:br>
            <a:r>
              <a:rPr lang="en-US" sz="2000" dirty="0"/>
              <a:t>Decision-Making</a:t>
            </a:r>
            <a:endParaRPr sz="2000" dirty="0"/>
          </a:p>
        </p:txBody>
      </p:sp>
      <p:sp>
        <p:nvSpPr>
          <p:cNvPr id="40" name="Google Shape;40;p1"/>
          <p:cNvSpPr txBox="1"/>
          <p:nvPr/>
        </p:nvSpPr>
        <p:spPr>
          <a:xfrm>
            <a:off x="3126658" y="1612490"/>
            <a:ext cx="6017342" cy="450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2303717610421072 - BALAGANESH 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2303717610421102 - NANDHAKUMAR 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2303717610422117 - SHAKE ASHIYA 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2303717610421121 - SIBIRAJAN A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530" marR="0" lvl="0" indent="0" algn="l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397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5397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Ms.V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PRIYANKA M.E.,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5397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Professor,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397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178625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2"/>
          <p:cNvSpPr txBox="1"/>
          <p:nvPr/>
        </p:nvSpPr>
        <p:spPr>
          <a:xfrm>
            <a:off x="1189275" y="1752100"/>
            <a:ext cx="5733300" cy="4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937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4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Work/Proposed Methodology</a:t>
            </a:r>
            <a:endParaRPr sz="4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System/Architecture Design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Modules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Implementation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4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54" name="Google Shape;54;p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304800" y="1589753"/>
            <a:ext cx="85146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Communities (hostels, apartments, clubs, towns) need organized participation and management.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project is a digital community management platform that adapts to different community needs.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provides a customizable space for announcements, complaints, petitions,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voting.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63" name="Google Shape;63;p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body" idx="1"/>
          </p:nvPr>
        </p:nvSpPr>
        <p:spPr>
          <a:xfrm>
            <a:off x="457199" y="1577340"/>
            <a:ext cx="8499900" cy="47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Communities rely on </a:t>
            </a:r>
            <a:r>
              <a:rPr lang="en-US" sz="1800" b="1"/>
              <a:t>manual and fragmented systems</a:t>
            </a:r>
            <a:r>
              <a:rPr lang="en-US" sz="1800"/>
              <a:t> for communication and decision-making.</a:t>
            </a:r>
            <a:br>
              <a:rPr lang="en-US" sz="1800"/>
            </a:b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/>
              <a:t>Challenges: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addressing complaints and petitions.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Civic engagement is limited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current approaches fail to encourage broad involvement.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Identity misuse and disputes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voting/decisions.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One-size-fits-all tools fail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as different communities need different levels of privacy, transparency, and security.</a:t>
            </a:r>
            <a:b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br>
              <a:rPr lang="en-US" sz="1800"/>
            </a:br>
            <a:endParaRPr sz="1800"/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/>
        </p:nvSpPr>
        <p:spPr>
          <a:xfrm flipH="1">
            <a:off x="317508" y="335485"/>
            <a:ext cx="80667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 txBox="1">
            <a:spLocks noGrp="1"/>
          </p:cNvSpPr>
          <p:nvPr>
            <p:ph type="sldNum" idx="12"/>
          </p:nvPr>
        </p:nvSpPr>
        <p:spPr>
          <a:xfrm>
            <a:off x="6583363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" name="Google Shape;71;p6"/>
          <p:cNvGraphicFramePr/>
          <p:nvPr/>
        </p:nvGraphicFramePr>
        <p:xfrm>
          <a:off x="-27305" y="1202918"/>
          <a:ext cx="9170650" cy="5518550"/>
        </p:xfrm>
        <a:graphic>
          <a:graphicData uri="http://schemas.openxmlformats.org/drawingml/2006/table">
            <a:tbl>
              <a:tblPr>
                <a:noFill/>
                <a:tableStyleId>{258BA836-758A-4EA6-A6AB-05F6C4DF461F}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5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 Name with Year of Publication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38C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Methodology/Algorithm Used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38C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1</a:t>
                      </a:r>
                      <a:endParaRPr sz="1400" u="none" strike="noStrike" cap="none"/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CitizenConnect: Real-Time Grievance Management App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MiteshShinde,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Shubhangi Teli,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Mr.Nilesh V. Kamble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International Journal of Innovative Research in Science, Engineering and Technology (IJIRSET) 2024</a:t>
                      </a:r>
                      <a:endParaRPr sz="1400" u="none" strike="noStrike" cap="none"/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Secure authentication &amp; real-time data handling; image uploads; user/admin dashboards for complaint submission, tracking &amp; resolution.</a:t>
                      </a:r>
                      <a:endParaRPr sz="16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2</a:t>
                      </a:r>
                      <a:endParaRPr sz="1400" u="none" strike="noStrike" cap="none"/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ESPE Security: Mobile and Web Application to Manage Community Emergency Alerts</a:t>
                      </a:r>
                      <a:endParaRPr sz="1400" u="none" strike="noStrike" cap="none"/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lang="en-US" sz="1500" u="none" strike="noStrike" cap="none">
                          <a:solidFill>
                            <a:schemeClr val="dk1"/>
                          </a:solidFill>
                        </a:rPr>
                        <a:t>eronica Isabel Martinez-Cepeda,</a:t>
                      </a:r>
                      <a:endParaRPr sz="15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solidFill>
                            <a:schemeClr val="dk1"/>
                          </a:solidFill>
                        </a:rPr>
                        <a:t>Maria Jose Parraga Moreira</a:t>
                      </a:r>
                      <a:endParaRPr sz="15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International Journal of Interactive Mobile Technologies (iJIM), 2024</a:t>
                      </a:r>
                      <a:endParaRPr sz="1400" u="none" strike="noStrike" cap="none"/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Incident categorization;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Geolocation-based alerts; Real-time emergency reporting</a:t>
                      </a:r>
                      <a:endParaRPr sz="16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1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RE-GrievanceAssist: Enhancing Customer Experience through ML-Powered Complaint Management</a:t>
                      </a:r>
                      <a:endParaRPr sz="1400" u="none" strike="noStrike" cap="none"/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Venkatesh C., Harshit Oberoi, Anurag Kumar Pandey, Anil Goyal, Nikhil Sikka</a:t>
                      </a:r>
                      <a:endParaRPr sz="1400" u="none" strike="noStrike" cap="none"/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arVix 2024</a:t>
                      </a:r>
                      <a:endParaRPr sz="1400" u="none" strike="noStrike" cap="none"/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system uses machine learning and NLP to automatically classify, prioritize, and route customer complaints for faster resolution.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body" idx="1"/>
          </p:nvPr>
        </p:nvSpPr>
        <p:spPr>
          <a:xfrm>
            <a:off x="299300" y="1571390"/>
            <a:ext cx="8639810" cy="207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aphicFrame>
        <p:nvGraphicFramePr>
          <p:cNvPr id="79" name="Google Shape;79;p7"/>
          <p:cNvGraphicFramePr/>
          <p:nvPr/>
        </p:nvGraphicFramePr>
        <p:xfrm>
          <a:off x="10" y="1224083"/>
          <a:ext cx="9144000" cy="5496795"/>
        </p:xfrm>
        <a:graphic>
          <a:graphicData uri="http://schemas.openxmlformats.org/drawingml/2006/table">
            <a:tbl>
              <a:tblPr>
                <a:noFill/>
                <a:tableStyleId>{258BA836-758A-4EA6-A6AB-05F6C4DF461F}</a:tableStyleId>
              </a:tblPr>
              <a:tblGrid>
                <a:gridCol w="86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4</a:t>
                      </a:r>
                      <a:endParaRPr sz="1400" u="none" strike="noStrike" cap="none"/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Supporting Online Discussions: Integrating AI Into the adhocracy+ Participation Platform To Enhance Deliberation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Maike Behrendt, Stefan Sylvius Wagner, Stefan Harmeling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ARXIV preprint, </a:t>
                      </a: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2024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Stance detection(BERT) for messages; Quality scoring (AQuA) ; Synthetic data generation (Mistral-7B); 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1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5</a:t>
                      </a:r>
                      <a:endParaRPr sz="1400" u="none" strike="noStrike" cap="none"/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Smart City Governance and Digital Platforms: A Framework for Inclusive Community Engagement and Real-Time Decision-Making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James Paul Onoja, Olakunle Abayomi Ajala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GSC Advanced Research and Reviews 2023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Tamper-proof digital voting; NLP-based complaint handling; Participatory budgeting; Federated microservices architecture;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iCommunity: Public Participation in Museums and Cultural Heritage Sites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b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A. Nasrolahi, V. Messina, C. Gena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 Name with Year of Publication: AVIC2CH, ACM, 2020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Voting &amp; commenting system ; Dashboards with demographic insights ; Gamification incentives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8900" marR="18900" marT="9450" marB="9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D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4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Design Methodology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86" name="Google Shape;86;p8"/>
          <p:cNvSpPr txBox="1"/>
          <p:nvPr/>
        </p:nvSpPr>
        <p:spPr>
          <a:xfrm>
            <a:off x="2728452" y="1961398"/>
            <a:ext cx="6415548" cy="3736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106600" y="1322875"/>
            <a:ext cx="8755500" cy="4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Workflow</a:t>
            </a:r>
            <a:endParaRPr sz="19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app enables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citizen-to-admin interaction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structured data flow: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Chat: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Facilitates real-time discussions within community groups for collaboration and transparency.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Petition/Complaint Submission: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members  post  complaints/petitions public/private chat interface.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Processing: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NLP module classifies, prioritizes, and summarizes issues automatically.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Response &amp; Announcement: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AI-assisted replies are validated and proceeded.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4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Design Methodology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4" name="Google Shape;94;p9"/>
          <p:cNvSpPr txBox="1"/>
          <p:nvPr/>
        </p:nvSpPr>
        <p:spPr>
          <a:xfrm>
            <a:off x="2728452" y="1961398"/>
            <a:ext cx="6415548" cy="3736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462117" y="3023042"/>
            <a:ext cx="850490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9"/>
          <p:cNvSpPr txBox="1"/>
          <p:nvPr/>
        </p:nvSpPr>
        <p:spPr>
          <a:xfrm>
            <a:off x="176981" y="1160344"/>
            <a:ext cx="9054000" cy="60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Intelligence &amp; Security Layer</a:t>
            </a:r>
            <a:endParaRPr sz="19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Classification &amp; Sentiment Analysis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NLP and </a:t>
            </a:r>
            <a:r>
              <a:rPr lang="en-US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model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automatically identify the type of issue and its urgency.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Content Moderation: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Detects spam, offensive language, and inappropriate content using NLP/LLM techniques to maintain healthy community communication. </a:t>
            </a:r>
            <a:endParaRPr sz="18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Summarization Engine: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an </a:t>
            </a:r>
            <a:r>
              <a:rPr lang="en-US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extract key highlights from long texts for faster Head review.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Suggestion System: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AI/LLM to provide solution recommendations and response suggestions for complaints and petitions</a:t>
            </a:r>
            <a:r>
              <a:rPr lang="en-US" sz="1100" dirty="0">
                <a:solidFill>
                  <a:schemeClr val="dk1"/>
                </a:solidFill>
              </a:rPr>
              <a:t>.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Authentication: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JWT tokens, AES encryption, and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bcrypt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password hashing.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Management: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Restricts privileges based on Head, or Member roles.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>
            <a:spLocks noGrp="1"/>
          </p:cNvSpPr>
          <p:nvPr>
            <p:ph type="title"/>
          </p:nvPr>
        </p:nvSpPr>
        <p:spPr>
          <a:xfrm>
            <a:off x="330815" y="242184"/>
            <a:ext cx="81558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ARCHITECTURE</a:t>
            </a:r>
            <a:endParaRPr/>
          </a:p>
        </p:txBody>
      </p:sp>
      <p:sp>
        <p:nvSpPr>
          <p:cNvPr id="102" name="Google Shape;102;p1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3" name="Google Shape;103;p11"/>
          <p:cNvSpPr txBox="1"/>
          <p:nvPr/>
        </p:nvSpPr>
        <p:spPr>
          <a:xfrm>
            <a:off x="424850" y="1847550"/>
            <a:ext cx="7346100" cy="3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2050" y="1331475"/>
            <a:ext cx="7019925" cy="523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8764E-BCD1-CBC1-8E68-8F4A6B768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27" y="242184"/>
            <a:ext cx="7829345" cy="492443"/>
          </a:xfrm>
        </p:spPr>
        <p:txBody>
          <a:bodyPr/>
          <a:lstStyle/>
          <a:p>
            <a:r>
              <a:rPr lang="en-US" dirty="0"/>
              <a:t>USE CASE DIAGRAM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26257-E7CD-29B2-60FA-49B60D2570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816779-58BF-FB66-73FD-8D382693F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647" y="1179871"/>
            <a:ext cx="5408217" cy="554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85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ee9c2a94a_0_16"/>
          <p:cNvSpPr txBox="1">
            <a:spLocks noGrp="1"/>
          </p:cNvSpPr>
          <p:nvPr>
            <p:ph type="title"/>
          </p:nvPr>
        </p:nvSpPr>
        <p:spPr>
          <a:xfrm>
            <a:off x="330815" y="242184"/>
            <a:ext cx="81558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MODULES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g38ee9c2a94a_0_1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11" name="Google Shape;111;g38ee9c2a94a_0_16"/>
          <p:cNvSpPr txBox="1"/>
          <p:nvPr/>
        </p:nvSpPr>
        <p:spPr>
          <a:xfrm>
            <a:off x="530975" y="1408350"/>
            <a:ext cx="8155800" cy="52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 i="0" u="none" strike="noStrike" cap="none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User Authentication &amp; Registration Module</a:t>
            </a:r>
            <a:endParaRPr sz="1900" b="1" i="0" u="none" strike="noStrike" cap="none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Provides secure registration and login for all users.</a:t>
            </a:r>
            <a:endParaRPr sz="1800" b="0" i="0" u="none" strike="noStrike" cap="none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Implements JWT-based authentication to ensure protected access to system features.</a:t>
            </a:r>
            <a:endParaRPr sz="1800" b="0" i="0" u="none" strike="noStrike" cap="none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Maintains session management to enhance system security and user experience.</a:t>
            </a:r>
          </a:p>
          <a:p>
            <a:pPr marL="114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</a:pPr>
            <a:endParaRPr sz="1800" b="0" i="0" u="none" strike="noStrike" cap="none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 i="0" u="none" strike="noStrike" cap="none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Community Management Module (Create / Join Space)</a:t>
            </a:r>
            <a:endParaRPr sz="1900" b="1" i="0" u="none" strike="noStrike" cap="none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Allows the Head to create a new community space (e.g., Hostel, Apartment, or Club).</a:t>
            </a:r>
            <a:endParaRPr sz="1800" b="0" i="0" u="none" strike="noStrike" cap="none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Enables members to join existing spaces using invite codes or approval from the Head.</a:t>
            </a:r>
            <a:endParaRPr sz="1800" b="0" i="0" u="none" strike="noStrike" cap="none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Ensures each user is associated with one or more spaces, allowing flexible participation.</a:t>
            </a:r>
            <a:endParaRPr sz="1800" b="0" i="0" u="none" strike="noStrike" cap="none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 b="0" i="0" u="none" strike="noStrike" cap="none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Facilitates structured communication and access control within each community.</a:t>
            </a:r>
            <a:endParaRPr sz="1800" b="0" i="0" u="none" strike="noStrike" cap="none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cc9dd842d_3_3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MODULES</a:t>
            </a:r>
            <a:endParaRPr/>
          </a:p>
        </p:txBody>
      </p:sp>
      <p:sp>
        <p:nvSpPr>
          <p:cNvPr id="118" name="Google Shape;118;g3bcc9dd842d_3_3"/>
          <p:cNvSpPr txBox="1">
            <a:spLocks noGrp="1"/>
          </p:cNvSpPr>
          <p:nvPr>
            <p:ph type="body" idx="1"/>
          </p:nvPr>
        </p:nvSpPr>
        <p:spPr>
          <a:xfrm>
            <a:off x="557275" y="1476415"/>
            <a:ext cx="8280600" cy="4585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 dirty="0">
                <a:solidFill>
                  <a:srgbClr val="222222"/>
                </a:solidFill>
                <a:highlight>
                  <a:srgbClr val="FFFFFF"/>
                </a:highlight>
              </a:rPr>
              <a:t>Chat &amp; Announcement Module</a:t>
            </a:r>
            <a:endParaRPr sz="1900" b="1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Provides an in-app chat system for members to communicate effectively within the community.</a:t>
            </a:r>
            <a:endParaRPr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Supports real-time messaging for better coordination among members.</a:t>
            </a:r>
            <a:endParaRPr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Allows Admins or Heads to post official announcements visible to all users in the space.</a:t>
            </a:r>
            <a:endParaRPr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Helps maintain smooth internal communication without the need for external platforms.</a:t>
            </a: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</a:pPr>
            <a:endParaRPr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222222"/>
                </a:solidFill>
                <a:highlight>
                  <a:schemeClr val="lt1"/>
                </a:highlight>
              </a:rPr>
              <a:t>Complaint &amp; Petition Module</a:t>
            </a:r>
            <a:endParaRPr sz="1900" b="1" dirty="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 dirty="0">
                <a:solidFill>
                  <a:srgbClr val="222222"/>
                </a:solidFill>
                <a:highlight>
                  <a:schemeClr val="lt1"/>
                </a:highlight>
              </a:rPr>
              <a:t>Enables members to raise complaints or petitions related to community issues.</a:t>
            </a:r>
            <a:endParaRPr sz="1800" dirty="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 dirty="0">
                <a:solidFill>
                  <a:srgbClr val="222222"/>
                </a:solidFill>
                <a:highlight>
                  <a:schemeClr val="lt1"/>
                </a:highlight>
              </a:rPr>
              <a:t>Admins or Heads can review, update, or mark complaints as resolved.</a:t>
            </a:r>
            <a:endParaRPr sz="1800" dirty="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 dirty="0">
                <a:solidFill>
                  <a:srgbClr val="222222"/>
                </a:solidFill>
                <a:highlight>
                  <a:schemeClr val="lt1"/>
                </a:highlight>
              </a:rPr>
              <a:t>Maintains complete records of all issues to ensure transparency and accountability.</a:t>
            </a:r>
            <a:endParaRPr sz="1800" dirty="0">
              <a:solidFill>
                <a:srgbClr val="222222"/>
              </a:solidFill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 dirty="0">
                <a:solidFill>
                  <a:srgbClr val="222222"/>
                </a:solidFill>
                <a:highlight>
                  <a:schemeClr val="lt1"/>
                </a:highlight>
              </a:rPr>
              <a:t>Provides an organized interface for tracking complaint progress</a:t>
            </a:r>
            <a:endParaRPr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</a:rPr>
              <a:t>3.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cc9dd842d_3_11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MODULES</a:t>
            </a:r>
            <a:endParaRPr/>
          </a:p>
        </p:txBody>
      </p:sp>
      <p:sp>
        <p:nvSpPr>
          <p:cNvPr id="125" name="Google Shape;125;g3bcc9dd842d_3_11"/>
          <p:cNvSpPr txBox="1">
            <a:spLocks noGrp="1"/>
          </p:cNvSpPr>
          <p:nvPr>
            <p:ph type="body" idx="1"/>
          </p:nvPr>
        </p:nvSpPr>
        <p:spPr>
          <a:xfrm>
            <a:off x="457200" y="1390537"/>
            <a:ext cx="7829400" cy="6428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sz="1900" b="1" dirty="0">
                <a:solidFill>
                  <a:srgbClr val="222222"/>
                </a:solidFill>
                <a:highlight>
                  <a:srgbClr val="FFFFFF"/>
                </a:highlight>
              </a:rPr>
              <a:t>Events Module</a:t>
            </a:r>
            <a:endParaRPr sz="1900" b="1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Allows Heads or Admins to create and manage community events such as meetings, celebrations, or maintenance schedules.</a:t>
            </a:r>
            <a:endParaRPr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Stores event details like title, date, time, and description.</a:t>
            </a:r>
            <a:endParaRPr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Displays all upcoming and past events to members for better participation.</a:t>
            </a:r>
            <a:endParaRPr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Helps build stronger community engagement through planned activities.</a:t>
            </a:r>
            <a:endParaRPr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 dirty="0"/>
              <a:t>AI Module</a:t>
            </a:r>
            <a:endParaRPr sz="1900" b="1" dirty="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Detects sentiment and toxic language from user messages using NLP techniques.</a:t>
            </a:r>
            <a:endParaRPr sz="1800"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Uses </a:t>
            </a:r>
            <a:r>
              <a:rPr lang="en-US" sz="1800" dirty="0" err="1"/>
              <a:t>Ollama</a:t>
            </a:r>
            <a:r>
              <a:rPr lang="en-US" sz="1800" dirty="0"/>
              <a:t> LLM with PostgreSQL-based RAG for context-aware responses.</a:t>
            </a:r>
            <a:endParaRPr sz="1800"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Uses Redis caching for high performance.</a:t>
            </a:r>
            <a:endParaRPr sz="1800"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Stores analysis and moderation logs securely in the database. </a:t>
            </a:r>
          </a:p>
          <a:p>
            <a:pPr indent="-342900">
              <a:lnSpc>
                <a:spcPct val="115000"/>
              </a:lnSpc>
              <a:buSzPts val="1800"/>
              <a:buFont typeface="Arial"/>
              <a:buChar char="●"/>
            </a:pPr>
            <a:r>
              <a:rPr lang="en-IN" sz="1800" dirty="0"/>
              <a:t>Provides summarizations, recommendations, and solution suggestions for administrative support.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94d33bad6_0_4"/>
          <p:cNvSpPr txBox="1">
            <a:spLocks noGrp="1"/>
          </p:cNvSpPr>
          <p:nvPr>
            <p:ph type="title"/>
          </p:nvPr>
        </p:nvSpPr>
        <p:spPr>
          <a:xfrm>
            <a:off x="657325" y="242178"/>
            <a:ext cx="7829400" cy="9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MODULES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e94d33bad6_0_4"/>
          <p:cNvSpPr txBox="1">
            <a:spLocks noGrp="1"/>
          </p:cNvSpPr>
          <p:nvPr>
            <p:ph type="body" idx="1"/>
          </p:nvPr>
        </p:nvSpPr>
        <p:spPr>
          <a:xfrm>
            <a:off x="657325" y="1577500"/>
            <a:ext cx="7829400" cy="265713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Voting Module</a:t>
            </a:r>
            <a:endParaRPr b="1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Provides secure digital voting for authorized community members.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Ensures tamper-proof voting with voter validation and duplicate prevention.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Supports flexible voting rules, schedules, and privacy settings.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Maintains transparent and auditable voting records.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Displays voting results using charts for easy understanding.</a:t>
            </a:r>
          </a:p>
          <a:p>
            <a:endParaRPr sz="1800" dirty="0"/>
          </a:p>
        </p:txBody>
      </p:sp>
      <p:sp>
        <p:nvSpPr>
          <p:cNvPr id="133" name="Google Shape;133;g3e94d33bad6_0_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ee9c2a94a_0_9"/>
          <p:cNvSpPr txBox="1">
            <a:spLocks noGrp="1"/>
          </p:cNvSpPr>
          <p:nvPr>
            <p:ph type="title"/>
          </p:nvPr>
        </p:nvSpPr>
        <p:spPr>
          <a:xfrm>
            <a:off x="330815" y="242184"/>
            <a:ext cx="8155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39" name="Google Shape;139;g38ee9c2a94a_0_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40" name="Google Shape;140;g38ee9c2a94a_0_9"/>
          <p:cNvSpPr txBox="1"/>
          <p:nvPr/>
        </p:nvSpPr>
        <p:spPr>
          <a:xfrm>
            <a:off x="924346" y="1838200"/>
            <a:ext cx="6591900" cy="43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g38ee9c2a94a_0_9"/>
          <p:cNvPicPr preferRelativeResize="0"/>
          <p:nvPr/>
        </p:nvPicPr>
        <p:blipFill rotWithShape="1">
          <a:blip r:embed="rId3">
            <a:alphaModFix/>
          </a:blip>
          <a:srcRect t="5033"/>
          <a:stretch/>
        </p:blipFill>
        <p:spPr>
          <a:xfrm>
            <a:off x="1848466" y="1711916"/>
            <a:ext cx="2704160" cy="4256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bcc9dd842d_3_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9284" y="1592826"/>
            <a:ext cx="2840547" cy="4256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cc9dd842d_3_20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49" name="Google Shape;149;g3bcc9dd842d_3_2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68" name="Google Shape;168;g3bcc9dd842d_3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910" y="1801949"/>
            <a:ext cx="2841375" cy="450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bcc9dd842d_3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8912" y="1801949"/>
            <a:ext cx="2672825" cy="45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cc9dd842d_3_28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58" name="Google Shape;158;g3bcc9dd842d_3_2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59" name="Google Shape;159;g3bcc9dd842d_3_28"/>
          <p:cNvPicPr preferRelativeResize="0"/>
          <p:nvPr/>
        </p:nvPicPr>
        <p:blipFill rotWithShape="1">
          <a:blip r:embed="rId3">
            <a:alphaModFix/>
          </a:blip>
          <a:srcRect l="-9080" r="9080"/>
          <a:stretch/>
        </p:blipFill>
        <p:spPr>
          <a:xfrm>
            <a:off x="1553497" y="1651820"/>
            <a:ext cx="2805403" cy="437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8ee9c2a94a_0_9"/>
          <p:cNvPicPr preferRelativeResize="0"/>
          <p:nvPr/>
        </p:nvPicPr>
        <p:blipFill rotWithShape="1">
          <a:blip r:embed="rId4">
            <a:alphaModFix/>
          </a:blip>
          <a:srcRect b="4889"/>
          <a:stretch/>
        </p:blipFill>
        <p:spPr>
          <a:xfrm>
            <a:off x="4880552" y="1651820"/>
            <a:ext cx="2709951" cy="425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cc9dd842d_3_44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67" name="Google Shape;167;g3bcc9dd842d_3_4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51" name="Google Shape;151;g3bcc9dd842d_3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7779" y="1678999"/>
            <a:ext cx="2557475" cy="436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bcc9dd842d_3_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746" y="1678999"/>
            <a:ext cx="2557476" cy="429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cc9dd842d_3_52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76" name="Google Shape;176;g3bcc9dd842d_3_5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78" name="Google Shape;178;g3bcc9dd842d_3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800" y="1578875"/>
            <a:ext cx="2755700" cy="431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bcc9dd842d_3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7725" y="1578874"/>
            <a:ext cx="2755700" cy="44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cc9dd842d_3_130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85" name="Google Shape;185;g3bcc9dd842d_3_13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87" name="Google Shape;187;g3bcc9dd842d_3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9925" y="1847225"/>
            <a:ext cx="2134200" cy="422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bcc9dd842d_3_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6025" y="1766325"/>
            <a:ext cx="2138291" cy="422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bcc9dd842d_3_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9684" y="1847225"/>
            <a:ext cx="2500125" cy="42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>
            <a:spLocks noGrp="1"/>
          </p:cNvSpPr>
          <p:nvPr>
            <p:ph type="title"/>
          </p:nvPr>
        </p:nvSpPr>
        <p:spPr>
          <a:xfrm>
            <a:off x="246063" y="242888"/>
            <a:ext cx="8240712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2"/>
          <p:cNvSpPr txBox="1">
            <a:spLocks noGrp="1"/>
          </p:cNvSpPr>
          <p:nvPr>
            <p:ph type="sldNum" idx="12"/>
          </p:nvPr>
        </p:nvSpPr>
        <p:spPr>
          <a:xfrm>
            <a:off x="6583363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246063" y="1599565"/>
            <a:ext cx="8550910" cy="525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1. M. Shinde, S. Teli, and N. V. Kamble, “CitizenConnect: Real-TimeGrievance Management App,” International Journal of InnovativeResearch in Science, Engineering and Technology (IJIRSET), 2024,pp4-5.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2. V. M. Cepeda and M. Parraga, “ESPE Security: Mobile andWebEmergency Alerts,” International Journal of Interactive MobileTechnologies (iJIM), 2024,pp5-6.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3. V. C., H. Oberoi, A. Pandey, A. Goyal, and N. Sikka, “RE-Grievance Assist: ML-powered Complaint Management,”arXivpreprint, 2024,pp6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 txBox="1">
            <a:spLocks noGrp="1"/>
          </p:cNvSpPr>
          <p:nvPr>
            <p:ph type="title"/>
          </p:nvPr>
        </p:nvSpPr>
        <p:spPr>
          <a:xfrm>
            <a:off x="246063" y="242888"/>
            <a:ext cx="8240712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3"/>
          <p:cNvSpPr txBox="1">
            <a:spLocks noGrp="1"/>
          </p:cNvSpPr>
          <p:nvPr>
            <p:ph type="sldNum" idx="12"/>
          </p:nvPr>
        </p:nvSpPr>
        <p:spPr>
          <a:xfrm>
            <a:off x="6583363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246063" y="1337279"/>
            <a:ext cx="85932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4. M. Behrendt, S. Wagner, and S. Harmeling, “SupportingOnlineDiscussions with AI in adhocracy+,” arXiv preprint, 2024,pp6-7.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5. J. P. Onoja and O. A. Abayomi, “Smart City GovernanceFramework,” GSC Advanced Research and Reviews, 2023,pp7.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6. A. Nasrolahi, V. Messina, and C. Gena, “iCommunity: PublicParticipation in Museums,” in Proc. ACMAVI Conference(AVIC2CH), 2020,pp7-8.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14"/>
          <p:cNvSpPr txBox="1">
            <a:spLocks noGrp="1"/>
          </p:cNvSpPr>
          <p:nvPr>
            <p:ph type="body" idx="1"/>
          </p:nvPr>
        </p:nvSpPr>
        <p:spPr>
          <a:xfrm>
            <a:off x="172085" y="3002098"/>
            <a:ext cx="8555990" cy="773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None/>
            </a:pPr>
            <a:r>
              <a:rPr lang="en-US" sz="4000" b="1"/>
              <a:t>THANK YOU!</a:t>
            </a:r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1301</Words>
  <Application>Microsoft Office PowerPoint</Application>
  <PresentationFormat>On-screen Show (4:3)</PresentationFormat>
  <Paragraphs>204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AgoraHub: Empowering Communities through Collaborative Governance and Intelligent  Decision-Making</vt:lpstr>
      <vt:lpstr>AGENDA</vt:lpstr>
      <vt:lpstr>INTRODUCTION</vt:lpstr>
      <vt:lpstr>PROBLEM STATEMENT</vt:lpstr>
      <vt:lpstr>PowerPoint Presentation</vt:lpstr>
      <vt:lpstr>LITERATURE SURVEY</vt:lpstr>
      <vt:lpstr>Design Methodology </vt:lpstr>
      <vt:lpstr>Design Methodology </vt:lpstr>
      <vt:lpstr>ARCHITECTURE</vt:lpstr>
      <vt:lpstr>USE CASE DIAGRAM</vt:lpstr>
      <vt:lpstr>MODULES </vt:lpstr>
      <vt:lpstr>MODULES</vt:lpstr>
      <vt:lpstr>MODULES</vt:lpstr>
      <vt:lpstr>MODULES 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sangeetha mariammal</dc:creator>
  <cp:lastModifiedBy>SIBIRAJAN A</cp:lastModifiedBy>
  <cp:revision>4</cp:revision>
  <dcterms:created xsi:type="dcterms:W3CDTF">2025-08-06T15:08:14Z</dcterms:created>
  <dcterms:modified xsi:type="dcterms:W3CDTF">2026-05-18T04:03:56Z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D6E4C3AABEEC4795AFB008844A12EB09_12</vt:lpwstr>
  </property>
  <property fmtid="{D5CDD505-2E9C-101B-9397-08002B2CF9AE}" pid="3" name="KSOProductBuildVer">
    <vt:lpwstr>2057-12.2.0.21936</vt:lpwstr>
  </property>
</Properties>
</file>